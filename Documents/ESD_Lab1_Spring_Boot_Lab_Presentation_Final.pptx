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1417320"/>
            <a:ext cx="2240280" cy="0"/>
          </a:xfrm>
          <a:prstGeom prst="line">
            <a:avLst/>
          </a:prstGeom>
          <a:ln w="6350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16916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2D2D2D"/>
                </a:solidFill>
                <a:latin typeface="Georgia"/>
              </a:rPr>
              <a:t>Spring Boot</a:t>
            </a:r>
          </a:p>
          <a:p>
            <a:r>
              <a:rPr sz="4300" b="1">
                <a:solidFill>
                  <a:srgbClr val="2D2D2D"/>
                </a:solidFill>
                <a:latin typeface="Georgia"/>
              </a:rPr>
              <a:t>E-Commerce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290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A67D3"/>
                </a:solidFill>
                <a:latin typeface="Aptos"/>
              </a:rPr>
              <a:t>Lab 1  •  Building a REST API from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617720"/>
            <a:ext cx="2103120" cy="914400"/>
          </a:xfrm>
          <a:prstGeom prst="roundRect">
            <a:avLst/>
          </a:prstGeom>
          <a:solidFill>
            <a:srgbClr val="F5D6DC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Georgia"/>
              </a:rPr>
              <a:t>Client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34640" y="5074920"/>
            <a:ext cx="822960" cy="0"/>
          </a:xfrm>
          <a:prstGeom prst="line">
            <a:avLst/>
          </a:prstGeom>
          <a:ln w="3175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703320" y="4069080"/>
            <a:ext cx="3657600" cy="2011680"/>
          </a:xfrm>
          <a:prstGeom prst="roundRect">
            <a:avLst/>
          </a:prstGeom>
          <a:solidFill>
            <a:srgbClr val="FBEDB8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Georgia"/>
              </a:rPr>
              <a:t>SPRING BOOT
Controller  →  Service  →  Repository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452360" y="5074920"/>
            <a:ext cx="822960" cy="0"/>
          </a:xfrm>
          <a:prstGeom prst="line">
            <a:avLst/>
          </a:prstGeom>
          <a:ln w="3175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321040" y="4617720"/>
            <a:ext cx="2560320" cy="914400"/>
          </a:xfrm>
          <a:prstGeom prst="roundRect">
            <a:avLst/>
          </a:prstGeom>
          <a:solidFill>
            <a:srgbClr val="D3E8F2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D2D2D"/>
                </a:solidFill>
                <a:latin typeface="Georgia"/>
              </a:rPr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D2D2D"/>
                </a:solidFill>
                <a:latin typeface="Georgia"/>
              </a:rPr>
              <a:t>The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5F5F"/>
                </a:solidFill>
                <a:latin typeface="Aptos"/>
              </a:rPr>
              <a:t>We will build the backend one layer at a time.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423160"/>
            <a:ext cx="1600200" cy="1325880"/>
          </a:xfrm>
          <a:prstGeom prst="roundRect">
            <a:avLst/>
          </a:prstGeom>
          <a:solidFill>
            <a:srgbClr val="F5D6DC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2D2D2D"/>
                </a:solidFill>
                <a:latin typeface="Georgia"/>
              </a:rPr>
              <a:t>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508760"/>
            <a:ext cx="6629400" cy="4251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A67D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6642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67D3"/>
                </a:solidFill>
                <a:latin typeface="Consolas"/>
              </a:rPr>
              <a:t>SPRING BOOT APPLICATION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2331720"/>
            <a:ext cx="1691640" cy="1325880"/>
          </a:xfrm>
          <a:prstGeom prst="roundRect">
            <a:avLst/>
          </a:prstGeom>
          <a:solidFill>
            <a:srgbClr val="FBEDB8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D2D2D"/>
                </a:solidFill>
                <a:latin typeface="Georgia"/>
              </a:rPr>
              <a:t>Product
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2331720"/>
            <a:ext cx="1691640" cy="1325880"/>
          </a:xfrm>
          <a:prstGeom prst="roundRect">
            <a:avLst/>
          </a:prstGeom>
          <a:solidFill>
            <a:srgbClr val="D3ECDB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D2D2D"/>
                </a:solidFill>
                <a:latin typeface="Georgia"/>
              </a:rPr>
              <a:t>Product
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2331720"/>
            <a:ext cx="1691640" cy="1325880"/>
          </a:xfrm>
          <a:prstGeom prst="roundRect">
            <a:avLst/>
          </a:prstGeom>
          <a:solidFill>
            <a:srgbClr val="E2DAF2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2D2D2D"/>
                </a:solidFill>
                <a:latin typeface="Georgia"/>
              </a:rPr>
              <a:t>Product
Repository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98848" y="2990088"/>
            <a:ext cx="438912" cy="0"/>
          </a:xfrm>
          <a:prstGeom prst="line">
            <a:avLst/>
          </a:prstGeom>
          <a:ln w="3175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693408" y="2990088"/>
            <a:ext cx="438912" cy="0"/>
          </a:xfrm>
          <a:prstGeom prst="line">
            <a:avLst/>
          </a:prstGeom>
          <a:ln w="3175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12848" y="2990088"/>
            <a:ext cx="530352" cy="0"/>
          </a:xfrm>
          <a:prstGeom prst="line">
            <a:avLst/>
          </a:prstGeom>
          <a:ln w="3175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2331720"/>
            <a:ext cx="1874519" cy="1325880"/>
          </a:xfrm>
          <a:prstGeom prst="roundRect">
            <a:avLst/>
          </a:prstGeom>
          <a:solidFill>
            <a:srgbClr val="D3E8F2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2D2D2D"/>
                </a:solidFill>
                <a:latin typeface="Georgia"/>
              </a:rPr>
              <a:t>MySQL
products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15400" y="2990088"/>
            <a:ext cx="685800" cy="0"/>
          </a:xfrm>
          <a:prstGeom prst="line">
            <a:avLst/>
          </a:prstGeom>
          <a:ln w="3175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61488" y="3977639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Aptos"/>
              </a:rPr>
              <a:t>Receives HTTP
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3977639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Aptos"/>
              </a:rPr>
              <a:t>Application
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3977639"/>
            <a:ext cx="1783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Aptos"/>
              </a:rPr>
              <a:t>Database access
through JPA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977639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F5F5F"/>
                </a:solidFill>
                <a:latin typeface="Aptos"/>
              </a:rPr>
              <a:t>Relational
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94560" y="4892040"/>
            <a:ext cx="6675120" cy="0"/>
          </a:xfrm>
          <a:prstGeom prst="line">
            <a:avLst/>
          </a:prstGeom>
          <a:ln w="27940">
            <a:solidFill>
              <a:srgbClr val="2A67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A67D3"/>
                </a:solidFill>
                <a:latin typeface="Consolas"/>
              </a:rPr>
              <a:t>REQUEST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194560" y="5486400"/>
            <a:ext cx="6675120" cy="0"/>
          </a:xfrm>
          <a:prstGeom prst="line">
            <a:avLst/>
          </a:prstGeom>
          <a:ln w="27940">
            <a:solidFill>
              <a:srgbClr val="E269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43200" y="5650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6918"/>
                </a:solidFill>
                <a:latin typeface="Consolas"/>
              </a:rPr>
              <a:t>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D2D2D"/>
                </a:solidFill>
                <a:latin typeface="Georgia"/>
              </a:rPr>
              <a:t>How One Request Travels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5F5F"/>
                </a:solidFill>
                <a:latin typeface="Aptos"/>
              </a:rPr>
              <a:t>Follow one request all the way to MySQL — and back.</a:t>
            </a:r>
          </a:p>
        </p:txBody>
      </p:sp>
      <p:pic>
        <p:nvPicPr>
          <p:cNvPr id="4" name="Picture 3" descr="how-one-request-tra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11018520" cy="55595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2D2D2D"/>
                </a:solidFill>
                <a:latin typeface="Georgia"/>
              </a:rPr>
              <a:t>Our First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5F5F"/>
                </a:solidFill>
                <a:latin typeface="Aptos"/>
              </a:rPr>
              <a:t>A small Product API — enough to understand the complete request path.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971800" cy="4434840"/>
          </a:xfrm>
          <a:prstGeom prst="roundRect">
            <a:avLst/>
          </a:prstGeom>
          <a:solidFill>
            <a:srgbClr val="F5D6DC"/>
          </a:solidFill>
          <a:ln w="2286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7335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2D2D2D"/>
                </a:solidFill>
                <a:latin typeface="Georgia"/>
              </a:rPr>
              <a:t>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240280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Consolas"/>
              </a:rPr>
              <a:t>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770632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Consolas"/>
              </a:rPr>
              <a:t>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300984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Consolas"/>
              </a:rPr>
              <a:t>description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3831335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Consolas"/>
              </a:rPr>
              <a:t>price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361688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Consolas"/>
              </a:rPr>
              <a:t>category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892040"/>
            <a:ext cx="21488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Consolas"/>
              </a:rPr>
              <a:t>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417320"/>
            <a:ext cx="7269480" cy="89611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A6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67D3"/>
                </a:solidFill>
                <a:latin typeface="Consolas"/>
              </a:rPr>
              <a:t>GET</a:t>
            </a:r>
            <a:r>
              <a:rPr sz="1400" b="1">
                <a:solidFill>
                  <a:srgbClr val="2D2D2D"/>
                </a:solidFill>
                <a:latin typeface="Consolas"/>
              </a:rPr>
              <a:t>   /api/products/get-all</a:t>
            </a:r>
          </a:p>
          <a:p>
            <a:r>
              <a:rPr sz="1200">
                <a:solidFill>
                  <a:srgbClr val="5F5F5F"/>
                </a:solidFill>
                <a:latin typeface="Aptos"/>
              </a:rPr>
              <a:t>Get all products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2441448"/>
            <a:ext cx="7269480" cy="89611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2A6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67D3"/>
                </a:solidFill>
                <a:latin typeface="Consolas"/>
              </a:rPr>
              <a:t>GET</a:t>
            </a:r>
            <a:r>
              <a:rPr sz="1400" b="1">
                <a:solidFill>
                  <a:srgbClr val="2D2D2D"/>
                </a:solidFill>
                <a:latin typeface="Consolas"/>
              </a:rPr>
              <a:t>   /api/products/get/{id}</a:t>
            </a:r>
          </a:p>
          <a:p>
            <a:r>
              <a:rPr sz="1200">
                <a:solidFill>
                  <a:srgbClr val="5F5F5F"/>
                </a:solidFill>
                <a:latin typeface="Aptos"/>
              </a:rPr>
              <a:t>Get one product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3465576"/>
            <a:ext cx="7269480" cy="89611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E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26918"/>
                </a:solidFill>
                <a:latin typeface="Consolas"/>
              </a:rPr>
              <a:t>POST</a:t>
            </a:r>
            <a:r>
              <a:rPr sz="1400" b="1">
                <a:solidFill>
                  <a:srgbClr val="2D2D2D"/>
                </a:solidFill>
                <a:latin typeface="Consolas"/>
              </a:rPr>
              <a:t>   /api/products/add-product</a:t>
            </a:r>
          </a:p>
          <a:p>
            <a:r>
              <a:rPr sz="1200">
                <a:solidFill>
                  <a:srgbClr val="5F5F5F"/>
                </a:solidFill>
                <a:latin typeface="Aptos"/>
              </a:rPr>
              <a:t>Add a product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4489704"/>
            <a:ext cx="7269480" cy="896112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E269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E26918"/>
                </a:solidFill>
                <a:latin typeface="Consolas"/>
              </a:rPr>
              <a:t>PUT</a:t>
            </a:r>
            <a:r>
              <a:rPr sz="1400" b="1">
                <a:solidFill>
                  <a:srgbClr val="2D2D2D"/>
                </a:solidFill>
                <a:latin typeface="Consolas"/>
              </a:rPr>
              <a:t>   /api/products/update/{id}</a:t>
            </a:r>
          </a:p>
          <a:p>
            <a:r>
              <a:rPr sz="1200">
                <a:solidFill>
                  <a:srgbClr val="5F5F5F"/>
                </a:solidFill>
                <a:latin typeface="Aptos"/>
              </a:rPr>
              <a:t>Update a product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69080" y="5577840"/>
            <a:ext cx="7269480" cy="566928"/>
          </a:xfrm>
          <a:prstGeom prst="roundRect">
            <a:avLst/>
          </a:prstGeom>
          <a:solidFill>
            <a:srgbClr val="FBEDB8"/>
          </a:solidFill>
          <a:ln w="15240">
            <a:solidFill>
              <a:srgbClr val="2D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D2D2D"/>
                </a:solidFill>
                <a:latin typeface="Consolas"/>
              </a:rPr>
              <a:t>Now we build it: Entity → Repository → Service → Controller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